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41" r:id="rId2"/>
    <p:sldId id="342" r:id="rId3"/>
    <p:sldId id="343" r:id="rId4"/>
    <p:sldId id="344" r:id="rId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636" autoAdjust="0"/>
  </p:normalViewPr>
  <p:slideViewPr>
    <p:cSldViewPr snapToGrid="0">
      <p:cViewPr varScale="1">
        <p:scale>
          <a:sx n="85" d="100"/>
          <a:sy n="85" d="100"/>
        </p:scale>
        <p:origin x="23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C956C-54FB-45DD-9853-7EE9B33A657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8DF66-D244-434D-90E9-E0B7453576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45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没有明确的变量可以自己设计，不影响实验结论；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页</a:t>
            </a:r>
            <a:r>
              <a:rPr lang="en-US" altLang="zh-CN" dirty="0"/>
              <a:t>PPT</a:t>
            </a:r>
            <a:r>
              <a:rPr lang="zh-CN" altLang="en-US" dirty="0"/>
              <a:t>中的传递函数块是包含工作点在内部的，只是封装在内部不可见（第</a:t>
            </a:r>
            <a:r>
              <a:rPr lang="en-US" altLang="zh-CN" dirty="0"/>
              <a:t>3</a:t>
            </a:r>
            <a:r>
              <a:rPr lang="zh-CN" altLang="en-US" dirty="0"/>
              <a:t>页框框中的内容）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8DF66-D244-434D-90E9-E0B7453576E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81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8DF66-D244-434D-90E9-E0B7453576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52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D8E4FA-94DC-D9EC-4188-B3566E5900E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632E0DB-43DC-A2DE-5E03-15090976F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4076FA1-0C00-1E51-3E0B-31F91D392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200D709-5CC3-139C-D1C1-D034BA6F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CAADEC54-B3A2-4E87-9ED6-611CCFD9B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5EA6E6-024B-2FCD-7E52-5BFA03E12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48851A-1422-6817-83F6-1E3534629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EC6D8E6-C3FD-1404-7682-E77294212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5AC8AEF2-28E5-DC29-2AD5-D6C7E483B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2D5A5F5C-EE15-BC12-6E9E-B02FA1F6EC5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583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83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84AA3C8A-D678-AD4E-458E-7CAB089283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5830DA2-C314-4670-AE0B-1390D8D45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9287B0F3-A7EE-0FBC-1F3F-E1AD75E78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ED2491-69F6-437C-BAE0-9A8CFFE6EFA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26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9688549-8877-5909-70B9-DCF56A97E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63023A5-45EB-018D-C2CE-7809EFACF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F44290D-54B2-A8CB-B304-3065140FC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04C17F-7E39-4B5B-B2DC-19A593CFE49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586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68F7F72-B006-92FD-33AB-031141C10B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50CEEB0-F658-1DB4-27DB-CDE9D2DF22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DDD36A2-D235-F82C-4418-60166EC7EF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59EF9F-8F7C-47F5-992F-7D13F2757FE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11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A5C4900-38FF-E4B4-367C-15EABA84A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DB02691-5EAF-B354-7074-B5F847EACB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E8C9DC6-9EAA-9E8C-D3E8-EDE895C7C8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90A7A9-0EAC-4BAA-9843-AA01165F0D6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516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820C304-DD95-6F43-6521-8A5E4455C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B07AD30-CCC2-8608-BB67-7131EF965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551900E-02F0-0E5B-4F4A-FD655235B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5D9DA8-70F7-4111-ACA8-D0E0F3EF9AE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63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A98F801-BD80-9724-76A6-B675F5BC0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FAC4FBC-C9DF-EBFC-354C-DDB64D7003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BF09EEB-3936-D7BF-9B2F-AD7B532766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4732F-B578-48CB-904C-0EE121D3AF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92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5FFEFD9-23D5-D21B-D8ED-3ADB0A306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AB54D1E-058A-505D-3CAD-94FDEF386E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4B35A6B-8CC0-9E08-DB22-B40A67475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CD0628-28D4-4B87-9F3E-AA74E7C45C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907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AB0AEE-859E-5495-6179-39DE20C7A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87A2F59-7C8C-7F14-BB62-B91D0BF70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36A93DB-512E-D6AD-FFEA-4F8B186A5E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D8E45F-51AA-4395-B0F5-966419FF78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1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FE3D31A-58EB-C92D-3FBC-FDEE5D76D8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8BC5B9F-3829-AC35-DB72-40DDDDDDCD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287536-3741-47F2-41ED-84E6B7F472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386DAE-CA70-431A-9815-B3E68E2D4D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166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DFD993F-E652-685D-6B99-845D0658B1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E180227-D96B-9C54-BAD5-6103ACBD6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EFC8676-1A55-FD6E-E43B-55549B9C6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25888F-0A31-42A8-92EE-DE7FCB9F189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30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8F7271-5EDE-498F-4A49-3A1AAF1CE1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C0DA7A7-1E15-0055-C813-369F4B7ED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23905A2-D6B1-ABB8-BABD-81C11BE8E7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0A45CB-E4BE-453D-BFA7-134CCDF86AC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8804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16C2F2A-1D05-8D58-E88A-28A42378D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DC57444D-EA4D-868F-D321-4A9A472BB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813E3E6-4338-0DAB-C4FF-788D9A179B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9E3A6B-5395-413C-84CE-C75B0F07FD6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61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9918F4-0A51-AF94-5C6D-D538C37572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B293A1-549D-E95C-CE20-F1669DE961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9AE5516-B9C5-2F02-07E4-56E5692C6E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979B2C-7251-A405-89EA-CA483C1524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63DE477-C20D-AF8B-A054-0F4500B69E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40073FA-539B-1EB1-B556-BB117B50E7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FE95634-B028-A6CC-D102-09D110517B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CDE5AB9-7BFE-F329-C46D-07333CCCC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9C9172B-8C12-CBB7-8F5A-1A00ACEA1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7355" name="Rectangle 11">
            <a:extLst>
              <a:ext uri="{FF2B5EF4-FFF2-40B4-BE49-F238E27FC236}">
                <a16:creationId xmlns:a16="http://schemas.microsoft.com/office/drawing/2014/main" id="{CF4D1004-5B14-FF42-24CF-49D6262E24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6" name="Rectangle 12">
            <a:extLst>
              <a:ext uri="{FF2B5EF4-FFF2-40B4-BE49-F238E27FC236}">
                <a16:creationId xmlns:a16="http://schemas.microsoft.com/office/drawing/2014/main" id="{782038A3-C848-F7BE-1ACB-6A9F2C8AB8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7" name="Rectangle 13">
            <a:extLst>
              <a:ext uri="{FF2B5EF4-FFF2-40B4-BE49-F238E27FC236}">
                <a16:creationId xmlns:a16="http://schemas.microsoft.com/office/drawing/2014/main" id="{B0098A3C-EB69-6C7A-05A6-094E341DBB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32EB3D5-9459-43E4-B4E1-3BD1251193B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25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230040BB-CD74-A020-5900-B679EFBD0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620713"/>
            <a:ext cx="7793037" cy="1079500"/>
          </a:xfrm>
        </p:spPr>
        <p:txBody>
          <a:bodyPr/>
          <a:lstStyle/>
          <a:p>
            <a:pPr algn="ctr" eaLnBrk="1" hangingPunct="1"/>
            <a:r>
              <a:rPr lang="zh-CN" altLang="en-US" sz="4000" dirty="0"/>
              <a:t>仿真练习</a:t>
            </a:r>
          </a:p>
        </p:txBody>
      </p:sp>
      <p:sp>
        <p:nvSpPr>
          <p:cNvPr id="36867" name="Text Box 6">
            <a:extLst>
              <a:ext uri="{FF2B5EF4-FFF2-40B4-BE49-F238E27FC236}">
                <a16:creationId xmlns:a16="http://schemas.microsoft.com/office/drawing/2014/main" id="{0076E286-6A52-2642-51B0-6B826A883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916113"/>
            <a:ext cx="5184775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采用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simulink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搭建加热炉被控对象被控对象，具体包括阀门流量特性和加热过程特性及入口温度干扰特性，具体参数见后。分别搭建单回路和串级控制回路。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868" name="Object 8">
            <a:extLst>
              <a:ext uri="{FF2B5EF4-FFF2-40B4-BE49-F238E27FC236}">
                <a16:creationId xmlns:a16="http://schemas.microsoft.com/office/drawing/2014/main" id="{8F703607-1C2D-0079-C869-0FBC36510A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916113"/>
          <a:ext cx="2881312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4" imgW="2931879" imgH="2715071" progId="Visio.Drawing.11">
                  <p:embed/>
                </p:oleObj>
              </mc:Choice>
              <mc:Fallback>
                <p:oleObj name="Visio" r:id="rId4" imgW="2931879" imgH="2715071" progId="Visio.Drawing.11">
                  <p:embed/>
                  <p:pic>
                    <p:nvPicPr>
                      <p:cNvPr id="36868" name="Object 8">
                        <a:extLst>
                          <a:ext uri="{FF2B5EF4-FFF2-40B4-BE49-F238E27FC236}">
                            <a16:creationId xmlns:a16="http://schemas.microsoft.com/office/drawing/2014/main" id="{8F703607-1C2D-0079-C869-0FBC36510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16113"/>
                        <a:ext cx="2881312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3" name="Object 9">
            <a:extLst>
              <a:ext uri="{FF2B5EF4-FFF2-40B4-BE49-F238E27FC236}">
                <a16:creationId xmlns:a16="http://schemas.microsoft.com/office/drawing/2014/main" id="{CEC5C312-169F-F0C0-A3B7-F2135DFF6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090988"/>
          <a:ext cx="7056437" cy="250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6" imgW="6560932" imgH="2329979" progId="Visio.Drawing.11">
                  <p:embed/>
                </p:oleObj>
              </mc:Choice>
              <mc:Fallback>
                <p:oleObj name="Visio" r:id="rId6" imgW="6560932" imgH="2329979" progId="Visio.Drawing.11">
                  <p:embed/>
                  <p:pic>
                    <p:nvPicPr>
                      <p:cNvPr id="164873" name="Object 9">
                        <a:extLst>
                          <a:ext uri="{FF2B5EF4-FFF2-40B4-BE49-F238E27FC236}">
                            <a16:creationId xmlns:a16="http://schemas.microsoft.com/office/drawing/2014/main" id="{CEC5C312-169F-F0C0-A3B7-F2135DFF6D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90988"/>
                        <a:ext cx="7056437" cy="250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310BAED-6EB2-B367-13EF-2B6C5CCD2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504112" cy="1008062"/>
          </a:xfrm>
        </p:spPr>
        <p:txBody>
          <a:bodyPr/>
          <a:lstStyle/>
          <a:p>
            <a:pPr algn="ctr" eaLnBrk="1" hangingPunct="1"/>
            <a:r>
              <a:rPr lang="zh-CN" altLang="en-US" sz="4000"/>
              <a:t>仿真练习</a:t>
            </a:r>
          </a:p>
        </p:txBody>
      </p:sp>
      <p:graphicFrame>
        <p:nvGraphicFramePr>
          <p:cNvPr id="37891" name="Object 10">
            <a:extLst>
              <a:ext uri="{FF2B5EF4-FFF2-40B4-BE49-F238E27FC236}">
                <a16:creationId xmlns:a16="http://schemas.microsoft.com/office/drawing/2014/main" id="{7C4ADC52-6520-CC2C-9163-23D735221B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916113"/>
          <a:ext cx="7129463" cy="193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3" imgW="5189332" imgH="1405756" progId="Visio.Drawing.11">
                  <p:embed/>
                </p:oleObj>
              </mc:Choice>
              <mc:Fallback>
                <p:oleObj name="Visio" r:id="rId3" imgW="5189332" imgH="1405756" progId="Visio.Drawing.11">
                  <p:embed/>
                  <p:pic>
                    <p:nvPicPr>
                      <p:cNvPr id="37891" name="Object 10">
                        <a:extLst>
                          <a:ext uri="{FF2B5EF4-FFF2-40B4-BE49-F238E27FC236}">
                            <a16:creationId xmlns:a16="http://schemas.microsoft.com/office/drawing/2014/main" id="{7C4ADC52-6520-CC2C-9163-23D735221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16113"/>
                        <a:ext cx="7129463" cy="193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4" name="Object 12">
            <a:extLst>
              <a:ext uri="{FF2B5EF4-FFF2-40B4-BE49-F238E27FC236}">
                <a16:creationId xmlns:a16="http://schemas.microsoft.com/office/drawing/2014/main" id="{C17E2B28-BA56-E58C-18FB-727958C47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37063"/>
          <a:ext cx="4608512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Visio" r:id="rId5" imgW="3465130" imgH="1215554" progId="Visio.Drawing.11">
                  <p:embed/>
                </p:oleObj>
              </mc:Choice>
              <mc:Fallback>
                <p:oleObj name="Visio" r:id="rId5" imgW="3465130" imgH="1215554" progId="Visio.Drawing.11">
                  <p:embed/>
                  <p:pic>
                    <p:nvPicPr>
                      <p:cNvPr id="166924" name="Object 12">
                        <a:extLst>
                          <a:ext uri="{FF2B5EF4-FFF2-40B4-BE49-F238E27FC236}">
                            <a16:creationId xmlns:a16="http://schemas.microsoft.com/office/drawing/2014/main" id="{C17E2B28-BA56-E58C-18FB-727958C47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37063"/>
                        <a:ext cx="4608512" cy="161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5" name="AutoShape 13">
            <a:extLst>
              <a:ext uri="{FF2B5EF4-FFF2-40B4-BE49-F238E27FC236}">
                <a16:creationId xmlns:a16="http://schemas.microsoft.com/office/drawing/2014/main" id="{7BDFBE5E-4AB6-863A-401A-7E6982635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357563"/>
            <a:ext cx="360363" cy="863600"/>
          </a:xfrm>
          <a:prstGeom prst="downArrow">
            <a:avLst>
              <a:gd name="adj1" fmla="val 50000"/>
              <a:gd name="adj2" fmla="val 5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4" name="矩形 1">
            <a:extLst>
              <a:ext uri="{FF2B5EF4-FFF2-40B4-BE49-F238E27FC236}">
                <a16:creationId xmlns:a16="http://schemas.microsoft.com/office/drawing/2014/main" id="{1D632AF0-FF3E-946F-BA49-646F5620E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149725"/>
            <a:ext cx="302418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整定单回路和串级控制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PID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参数，观察两者对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Pgas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Ti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干扰的抑制作用。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(3)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设计主回路控制器抗积分饱和方案。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68C1AD6F-A9FB-9A20-09DA-8BC7E8DC0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仿真练习</a:t>
            </a: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5FB82928-230A-806D-569A-AFAFA8CC8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637462" cy="4219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稳态工作条件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	K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gas</a:t>
            </a:r>
            <a:r>
              <a:rPr lang="en-US" altLang="zh-CN" sz="2400">
                <a:latin typeface="Times New Roman" panose="02020603050405020304" pitchFamily="18" charset="0"/>
              </a:rPr>
              <a:t> = 0.4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 = 60 %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P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gas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= 0.25 MPa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gas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= 12 T/hr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 = 300 ℃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= 120 ℃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测量仪表量程（即测量范围）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	</a:t>
            </a:r>
            <a:r>
              <a:rPr lang="zh-CN" altLang="en-US" sz="2400">
                <a:latin typeface="Times New Roman" panose="02020603050405020304" pitchFamily="18" charset="0"/>
              </a:rPr>
              <a:t>燃料气流量：</a:t>
            </a:r>
            <a:r>
              <a:rPr lang="en-US" altLang="zh-CN" sz="2400">
                <a:latin typeface="Times New Roman" panose="02020603050405020304" pitchFamily="18" charset="0"/>
              </a:rPr>
              <a:t>0 ~ 40 T/hr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	工艺介质炉出口温度：</a:t>
            </a:r>
            <a:r>
              <a:rPr lang="en-US" altLang="zh-CN" sz="2400">
                <a:latin typeface="Times New Roman" panose="02020603050405020304" pitchFamily="18" charset="0"/>
              </a:rPr>
              <a:t>200 ~ 400 ℃</a:t>
            </a:r>
            <a:r>
              <a:rPr lang="en-US" altLang="zh-CN" sz="28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动态参数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 = 2 min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 = 5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 = 10 min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τ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 = 5 min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= 1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= 1 min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 = 2 min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T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m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= 0.2 min</a:t>
            </a:r>
            <a:r>
              <a:rPr lang="en-US" altLang="zh-CN" sz="2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1409016-80A4-0ED2-2FDB-802945AEE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620713"/>
            <a:ext cx="7793037" cy="1079500"/>
          </a:xfrm>
        </p:spPr>
        <p:txBody>
          <a:bodyPr/>
          <a:lstStyle/>
          <a:p>
            <a:pPr algn="ctr" eaLnBrk="1" hangingPunct="1"/>
            <a:r>
              <a:rPr lang="zh-CN" altLang="en-US" sz="4000"/>
              <a:t>仿真练习</a:t>
            </a:r>
          </a:p>
        </p:txBody>
      </p:sp>
      <p:pic>
        <p:nvPicPr>
          <p:cNvPr id="39939" name="Picture 9">
            <a:extLst>
              <a:ext uri="{FF2B5EF4-FFF2-40B4-BE49-F238E27FC236}">
                <a16:creationId xmlns:a16="http://schemas.microsoft.com/office/drawing/2014/main" id="{26EB8D69-3F4F-7596-F166-DB20B88EC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1916113"/>
            <a:ext cx="8112125" cy="321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227</Words>
  <Application>Microsoft Office PowerPoint</Application>
  <PresentationFormat>全屏显示(4:3)</PresentationFormat>
  <Paragraphs>18</Paragraphs>
  <Slides>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Calibri</vt:lpstr>
      <vt:lpstr>Tahoma</vt:lpstr>
      <vt:lpstr>Times New Roman</vt:lpstr>
      <vt:lpstr>Wingdings</vt:lpstr>
      <vt:lpstr>Blends</vt:lpstr>
      <vt:lpstr>Visio</vt:lpstr>
      <vt:lpstr>仿真练习</vt:lpstr>
      <vt:lpstr>仿真练习</vt:lpstr>
      <vt:lpstr>仿真练习</vt:lpstr>
      <vt:lpstr>仿真练习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书面作业 4.1</dc:title>
  <dc:creator>Lei Xie</dc:creator>
  <cp:lastModifiedBy>y4-328</cp:lastModifiedBy>
  <cp:revision>10</cp:revision>
  <dcterms:created xsi:type="dcterms:W3CDTF">2015-05-05T08:02:00Z</dcterms:created>
  <dcterms:modified xsi:type="dcterms:W3CDTF">2026-10-10T03:51:15Z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2052-10.1.0.5511</vt:lpwstr>
  </property>
</Properties>
</file>